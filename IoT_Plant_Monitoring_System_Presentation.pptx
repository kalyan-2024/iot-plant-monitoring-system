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58200" y="594360"/>
            <a:ext cx="2971800" cy="1051560"/>
          </a:xfrm>
          <a:prstGeom prst="round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1828800"/>
            <a:ext cx="2240280" cy="914400"/>
          </a:xfrm>
          <a:prstGeom prst="roundRect">
            <a:avLst/>
          </a:prstGeom>
          <a:solidFill>
            <a:srgbClr val="448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0" y="2971800"/>
            <a:ext cx="3337560" cy="1005840"/>
          </a:xfrm>
          <a:prstGeom prst="roundRect">
            <a:avLst/>
          </a:prstGeom>
          <a:solidFill>
            <a:srgbClr val="224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15400" y="4160520"/>
            <a:ext cx="2468880" cy="960120"/>
          </a:xfrm>
          <a:prstGeom prst="roundRect">
            <a:avLst/>
          </a:prstGeom>
          <a:solidFill>
            <a:srgbClr val="EB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6309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7FDECF"/>
                </a:solidFill>
                <a:latin typeface="Aptos"/>
              </a:rPr>
              <a:t>IoT-ENABLED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704088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Plant Growth &amp;
Environment Monitoring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749039"/>
            <a:ext cx="6675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8E5EE"/>
                </a:solidFill>
                <a:latin typeface="Aptos"/>
              </a:rPr>
              <a:t>ESP32 • Sensors • Automated Irrigation • Real-time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4846320"/>
            <a:ext cx="2011680" cy="329184"/>
          </a:xfrm>
          <a:prstGeom prst="round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860036"/>
            <a:ext cx="193852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8E5EE"/>
                </a:solidFill>
                <a:latin typeface="Aptos"/>
              </a:rPr>
              <a:t>Prepared by: Kalyan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43A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914400" cy="64008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2717E"/>
                </a:solidFill>
                <a:latin typeface="Aptos"/>
              </a:rPr>
              <a:t>A sensor-based system to observe plant conditions and support timely watering.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2717E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82296" cy="1920240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136392" cy="1133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Collects soil moisture, temperature, humidity and rain-sensor readings using an ESP32.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82296" cy="1920240"/>
          </a:xfrm>
          <a:prstGeom prst="rect">
            <a:avLst/>
          </a:prstGeom>
          <a:solidFill>
            <a:srgbClr val="448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01168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87168"/>
            <a:ext cx="3136392" cy="1133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Helps reduce manual checking and supports more consistent plant care.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82296" cy="1920240"/>
          </a:xfrm>
          <a:prstGeom prst="rect">
            <a:avLst/>
          </a:prstGeom>
          <a:solidFill>
            <a:srgbClr val="EB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1168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Core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487168"/>
            <a:ext cx="3136392" cy="1133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Can activate a relay-controlled pump when soil is dry and rain is not detected.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Project concept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81728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39991"/>
                </a:solidFill>
                <a:latin typeface="Aptos"/>
              </a:rPr>
              <a:t>Sensors → ESP32 controller → Decision logic → Relay / pump → Display or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43A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914400" cy="64008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2717E"/>
                </a:solidFill>
                <a:latin typeface="Aptos"/>
              </a:rPr>
              <a:t>The project focuses on simple, low-cost monitoring and irrigation assistance.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2717E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243A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02920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643"/>
                </a:solidFill>
                <a:latin typeface="Aptos"/>
              </a:defRPr>
            </a:pPr>
            <a:r>
              <a:t>Manual watering may happen too early or too late.</a:t>
            </a:r>
          </a:p>
          <a:p>
            <a:pPr>
              <a:spcAft>
                <a:spcPts val="1100"/>
              </a:spcAft>
              <a:defRPr sz="1700">
                <a:solidFill>
                  <a:srgbClr val="2A3643"/>
                </a:solidFill>
                <a:latin typeface="Aptos"/>
              </a:defRPr>
            </a:pPr>
            <a:r>
              <a:t>Soil and weather conditions can change during the day.</a:t>
            </a:r>
          </a:p>
          <a:p>
            <a:pPr>
              <a:spcAft>
                <a:spcPts val="1100"/>
              </a:spcAft>
              <a:defRPr sz="1700">
                <a:solidFill>
                  <a:srgbClr val="2A3643"/>
                </a:solidFill>
                <a:latin typeface="Aptos"/>
              </a:defRPr>
            </a:pPr>
            <a:r>
              <a:t>Frequent physical checking can be inconvenient.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2286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243A"/>
                </a:solidFill>
                <a:latin typeface="Aptos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74920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643"/>
                </a:solidFill>
                <a:latin typeface="Aptos"/>
              </a:defRPr>
            </a:pPr>
            <a:r>
              <a:t>Read environmental sensor values.</a:t>
            </a:r>
          </a:p>
          <a:p>
            <a:pPr>
              <a:spcAft>
                <a:spcPts val="1100"/>
              </a:spcAft>
              <a:defRPr sz="1700">
                <a:solidFill>
                  <a:srgbClr val="2A3643"/>
                </a:solidFill>
                <a:latin typeface="Aptos"/>
              </a:defRPr>
            </a:pPr>
            <a:r>
              <a:t>Identify dry-soil conditions using a calibrated threshold.</a:t>
            </a:r>
          </a:p>
          <a:p>
            <a:pPr>
              <a:spcAft>
                <a:spcPts val="1100"/>
              </a:spcAft>
              <a:defRPr sz="1700">
                <a:solidFill>
                  <a:srgbClr val="2A3643"/>
                </a:solidFill>
                <a:latin typeface="Aptos"/>
              </a:defRPr>
            </a:pPr>
            <a:r>
              <a:t>Control a pump through a relay with safety limits.</a:t>
            </a:r>
          </a:p>
          <a:p>
            <a:pPr>
              <a:spcAft>
                <a:spcPts val="1100"/>
              </a:spcAft>
              <a:defRPr sz="1700">
                <a:solidFill>
                  <a:srgbClr val="2A3643"/>
                </a:solidFill>
                <a:latin typeface="Aptos"/>
              </a:defRPr>
            </a:pPr>
            <a:r>
              <a:t>Display readings for monitoring and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43A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914400" cy="64008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2717E"/>
                </a:solidFill>
                <a:latin typeface="Aptos"/>
              </a:rPr>
              <a:t>High-level data flow from sensing to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2717E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2240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39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56032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39991"/>
                </a:solidFill>
                <a:latin typeface="Aptos"/>
              </a:rPr>
              <a:t>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965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A3643"/>
                </a:solidFill>
                <a:latin typeface="Aptos"/>
              </a:rPr>
              <a:t>Soil moisture
DHT22
Rain sensor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331720"/>
            <a:ext cx="2240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448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56032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4485BE"/>
                </a:solidFill>
                <a:latin typeface="Aptos"/>
              </a:rPr>
              <a:t>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17520"/>
            <a:ext cx="1965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A3643"/>
                </a:solidFill>
                <a:latin typeface="Aptos"/>
              </a:rPr>
              <a:t>ESP32
Read &amp; process
sensor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331720"/>
            <a:ext cx="2240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9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56032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B9742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1965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A3643"/>
                </a:solidFill>
                <a:latin typeface="Aptos"/>
              </a:rPr>
              <a:t>Threshold logic
Dry soil +
no 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2331720"/>
            <a:ext cx="2240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5A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2328" y="256032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A9169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017520"/>
            <a:ext cx="1965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A3643"/>
                </a:solidFill>
                <a:latin typeface="Aptos"/>
              </a:rPr>
              <a:t>Relay module
Water pump
LCD / dashboard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880360" y="2971800"/>
            <a:ext cx="502920" cy="384048"/>
          </a:xfrm>
          <a:prstGeom prst="rightArrow">
            <a:avLst/>
          </a:prstGeom>
          <a:solidFill>
            <a:srgbClr val="627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806440" y="2971800"/>
            <a:ext cx="502920" cy="384048"/>
          </a:xfrm>
          <a:prstGeom prst="rightArrow">
            <a:avLst/>
          </a:prstGeom>
          <a:solidFill>
            <a:srgbClr val="627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732520" y="2971800"/>
            <a:ext cx="502920" cy="384048"/>
          </a:xfrm>
          <a:prstGeom prst="rightArrow">
            <a:avLst/>
          </a:prstGeom>
          <a:solidFill>
            <a:srgbClr val="627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892040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2717E"/>
                </a:solidFill>
                <a:latin typeface="Aptos"/>
              </a:rPr>
              <a:t>Optional: Wi-Fi can be used to send readings to a cloud dashboard when implemented.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43A"/>
                </a:solidFill>
                <a:latin typeface="Aptos"/>
              </a:rPr>
              <a:t>Hardware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914400" cy="64008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2717E"/>
                </a:solidFill>
                <a:latin typeface="Aptos"/>
              </a:rPr>
              <a:t>Main components used in the proposed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2717E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82296" cy="1508760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ESP32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41448"/>
            <a:ext cx="3044952" cy="7223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Microcontroller with Wi-Fi and ADC inputs.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82296" cy="1508760"/>
          </a:xfrm>
          <a:prstGeom prst="rect">
            <a:avLst/>
          </a:prstGeom>
          <a:solidFill>
            <a:srgbClr val="448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965960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Soil moisture 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41448"/>
            <a:ext cx="3044952" cy="7223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Measures a soil-related analog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830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83080"/>
            <a:ext cx="82296" cy="1508760"/>
          </a:xfrm>
          <a:prstGeom prst="rect">
            <a:avLst/>
          </a:prstGeom>
          <a:solidFill>
            <a:srgbClr val="EB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965960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DHT22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441448"/>
            <a:ext cx="3044952" cy="7223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Measures air temperature and humidity.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03320"/>
            <a:ext cx="82296" cy="1508760"/>
          </a:xfrm>
          <a:prstGeom prst="rect">
            <a:avLst/>
          </a:prstGeom>
          <a:solidFill>
            <a:srgbClr val="5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886200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Rain sensor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61688"/>
            <a:ext cx="3044952" cy="7223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Provides a wet/dry-related signal.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82296" cy="1508760"/>
          </a:xfrm>
          <a:prstGeom prst="rect">
            <a:avLst/>
          </a:prstGeom>
          <a:solidFill>
            <a:srgbClr val="9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886200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Relay + water pump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361688"/>
            <a:ext cx="3044952" cy="7223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Switches the pump using a suitable external supply.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703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3703320"/>
            <a:ext cx="82296" cy="1508760"/>
          </a:xfrm>
          <a:prstGeom prst="rect">
            <a:avLst/>
          </a:prstGeom>
          <a:solidFill>
            <a:srgbClr val="C4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3886200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LCD / optional PIR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4361688"/>
            <a:ext cx="3044952" cy="7223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Displays readings; PIR can detect motion if 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43A"/>
                </a:solidFill>
                <a:latin typeface="Aptos"/>
              </a:rPr>
              <a:t>Software &amp;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914400" cy="64008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2717E"/>
                </a:solidFill>
                <a:latin typeface="Aptos"/>
              </a:rPr>
              <a:t>Tools used to write, upload and observe the embedded program.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2717E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82296" cy="1920240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11680"/>
            <a:ext cx="29535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Arduino 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87168"/>
            <a:ext cx="2953512" cy="1133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Used to edit and upload the ESP32 sketch.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82296" cy="1920240"/>
          </a:xfrm>
          <a:prstGeom prst="rect">
            <a:avLst/>
          </a:prstGeom>
          <a:solidFill>
            <a:srgbClr val="448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011680"/>
            <a:ext cx="29535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Embedded C / C++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487168"/>
            <a:ext cx="2953512" cy="1133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Implements sensor reading, threshold logic and relay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82296" cy="1920240"/>
          </a:xfrm>
          <a:prstGeom prst="rect">
            <a:avLst/>
          </a:prstGeom>
          <a:solidFill>
            <a:srgbClr val="EB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011680"/>
            <a:ext cx="29535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Serial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487168"/>
            <a:ext cx="2953512" cy="1133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Shows sensor values and status messages for debugging.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Optional extensions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56692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A3643"/>
                </a:solidFill>
                <a:latin typeface="Aptos"/>
              </a:defRPr>
            </a:pPr>
            <a:r>
              <a:t>Blynk or ThingSpeak dashboard</a:t>
            </a:r>
          </a:p>
          <a:p>
            <a:pPr>
              <a:spcAft>
                <a:spcPts val="500"/>
              </a:spcAft>
              <a:defRPr sz="1500">
                <a:solidFill>
                  <a:srgbClr val="2A3643"/>
                </a:solidFill>
                <a:latin typeface="Aptos"/>
              </a:defRPr>
            </a:pPr>
            <a:r>
              <a:t>Data logging and charts</a:t>
            </a:r>
          </a:p>
          <a:p>
            <a:pPr>
              <a:spcAft>
                <a:spcPts val="500"/>
              </a:spcAft>
              <a:defRPr sz="1500">
                <a:solidFill>
                  <a:srgbClr val="2A3643"/>
                </a:solidFill>
                <a:latin typeface="Aptos"/>
              </a:defRPr>
            </a:pPr>
            <a:r>
              <a:t>Wi-Fi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43A"/>
                </a:solidFill>
                <a:latin typeface="Aptos"/>
              </a:rPr>
              <a:t>Working Principle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914400" cy="64008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2717E"/>
                </a:solidFill>
                <a:latin typeface="Aptos"/>
              </a:rPr>
              <a:t>Typical control sequence; calibrate thresholds for the actual sensors.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2717E"/>
                </a:solidFill>
                <a:latin typeface="Aptos"/>
              </a:rP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773936"/>
            <a:ext cx="48463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09928"/>
            <a:ext cx="1417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Sense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709928"/>
            <a:ext cx="8138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Read soil, temperature, humidity and rain values.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551176"/>
            <a:ext cx="502920" cy="502920"/>
          </a:xfrm>
          <a:prstGeom prst="ellipse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633472"/>
            <a:ext cx="48463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9464"/>
            <a:ext cx="1417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Evaluate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69464"/>
            <a:ext cx="8138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Compare readings with configured thresholds.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10712"/>
            <a:ext cx="502920" cy="502920"/>
          </a:xfrm>
          <a:prstGeom prst="ellipse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493008"/>
            <a:ext cx="48463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429000"/>
            <a:ext cx="1417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29000"/>
            <a:ext cx="8138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If soil is dry and rain is not detected, request watering.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270248"/>
            <a:ext cx="502920" cy="502920"/>
          </a:xfrm>
          <a:prstGeom prst="ellipse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4352544"/>
            <a:ext cx="48463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288536"/>
            <a:ext cx="1417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Act safely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288536"/>
            <a:ext cx="8138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Switch relay and stop the pump after a maximum run time.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129783"/>
            <a:ext cx="502920" cy="502920"/>
          </a:xfrm>
          <a:prstGeom prst="ellipse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5212079"/>
            <a:ext cx="48463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148071"/>
            <a:ext cx="1417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Observe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148071"/>
            <a:ext cx="8138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Display values in Serial Monitor or on an optional LCD.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43A"/>
                </a:solidFill>
                <a:latin typeface="Aptos"/>
              </a:rPr>
              <a:t>Automation Logic &amp;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914400" cy="64008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2717E"/>
                </a:solidFill>
                <a:latin typeface="Aptos"/>
              </a:rPr>
              <a:t>Illustrative logic in the starter sketch; confirm behavior on your own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2717E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66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82296" cy="2286000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11680"/>
            <a:ext cx="47823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Pump start 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87168"/>
            <a:ext cx="4782312" cy="1499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A3643"/>
                </a:solidFill>
                <a:latin typeface="Aptos"/>
              </a:rPr>
              <a:t>Soil reading indicates dry soil
AND rain sensor indicates no rain
AND pump is currently off
AND cooldown has 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166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82296" cy="2286000"/>
          </a:xfrm>
          <a:prstGeom prst="rect">
            <a:avLst/>
          </a:prstGeom>
          <a:solidFill>
            <a:srgbClr val="EB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11680"/>
            <a:ext cx="47823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Basic safeguards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87168"/>
            <a:ext cx="4782312" cy="1499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A3643"/>
                </a:solidFill>
                <a:latin typeface="Aptos"/>
              </a:rPr>
              <a:t>Maximum pump-on duration
Cooldown between watering cycles
Pump uses a separate rated supply
Test relay logic before connecting the pump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54880"/>
            <a:ext cx="10515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62717E"/>
                </a:solidFill>
                <a:latin typeface="Aptos"/>
              </a:rPr>
              <a:t>Threshold values are examples, not universal values. Calibrate with dry and moist soil and with dry/wet rain-sensor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43A"/>
                </a:solidFill>
                <a:latin typeface="Aptos"/>
              </a:rPr>
              <a:t>Testing Plan &amp; Expected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914400" cy="64008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2717E"/>
                </a:solidFill>
                <a:latin typeface="Aptos"/>
              </a:rPr>
              <a:t>Record actual readings and observations during your prototype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2717E"/>
                </a:solidFill>
                <a:latin typeface="Aptos"/>
              </a:rP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28800"/>
          <a:ext cx="10835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577840"/>
                <a:gridCol w="3063240"/>
              </a:tblGrid>
              <a:tr h="5791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Test condition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What to check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Dry soil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Soil reading crosses dry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Raw ADC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Moist soil</a:t>
                      </a:r>
                    </a:p>
                  </a:txBody>
                  <a:tcPr>
                    <a:solidFill>
                      <a:srgbClr val="DC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Pump should remain off</a:t>
                      </a:r>
                    </a:p>
                  </a:txBody>
                  <a:tcPr>
                    <a:solidFill>
                      <a:srgbClr val="DC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Raw ADC value</a:t>
                      </a:r>
                    </a:p>
                  </a:txBody>
                  <a:tcPr>
                    <a:solidFill>
                      <a:srgbClr val="DCF6E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Rain / wet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Watering should be inhibited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Rain ADC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DHT22 connected</a:t>
                      </a:r>
                    </a:p>
                  </a:txBody>
                  <a:tcPr>
                    <a:solidFill>
                      <a:srgbClr val="DC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Temperature and humidity display</a:t>
                      </a:r>
                    </a:p>
                  </a:txBody>
                  <a:tcPr>
                    <a:solidFill>
                      <a:srgbClr val="DC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°C and %</a:t>
                      </a:r>
                    </a:p>
                  </a:txBody>
                  <a:tcPr>
                    <a:solidFill>
                      <a:srgbClr val="DCF6E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Pump timeout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Pump stops at configured time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643"/>
                          </a:solidFill>
                        </a:defRPr>
                      </a:pPr>
                      <a:r>
                        <a:t>Run 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2717E"/>
                </a:solidFill>
                <a:latin typeface="Aptos"/>
              </a:rPr>
              <a:t>Do not claim measured results until you have tested the physical prototype.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43A"/>
                </a:solidFill>
                <a:latin typeface="Aptos"/>
              </a:rPr>
              <a:t>Benefits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914400" cy="64008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2717E"/>
                </a:solidFill>
                <a:latin typeface="Aptos"/>
              </a:rPr>
              <a:t>A practical prototype can be expanded as reliability and calibration improve.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2717E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39991"/>
                </a:solidFill>
                <a:latin typeface="Aptos"/>
              </a:rPr>
              <a:t>Potential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93776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A3643"/>
                </a:solidFill>
                <a:latin typeface="Aptos"/>
              </a:defRPr>
            </a:pPr>
            <a:r>
              <a:t>Less frequent manual checking</a:t>
            </a:r>
          </a:p>
          <a:p>
            <a:pPr>
              <a:spcAft>
                <a:spcPts val="1100"/>
              </a:spcAft>
              <a:defRPr sz="1600">
                <a:solidFill>
                  <a:srgbClr val="2A3643"/>
                </a:solidFill>
                <a:latin typeface="Aptos"/>
              </a:defRPr>
            </a:pPr>
            <a:r>
              <a:t>Consistent threshold-based watering</a:t>
            </a:r>
          </a:p>
          <a:p>
            <a:pPr>
              <a:spcAft>
                <a:spcPts val="1100"/>
              </a:spcAft>
              <a:defRPr sz="1600">
                <a:solidFill>
                  <a:srgbClr val="2A3643"/>
                </a:solidFill>
                <a:latin typeface="Aptos"/>
              </a:defRPr>
            </a:pPr>
            <a:r>
              <a:t>Modular and relatively low-cost design</a:t>
            </a:r>
          </a:p>
          <a:p>
            <a:pPr>
              <a:spcAft>
                <a:spcPts val="1100"/>
              </a:spcAft>
              <a:defRPr sz="1600">
                <a:solidFill>
                  <a:srgbClr val="2A3643"/>
                </a:solidFill>
                <a:latin typeface="Aptos"/>
              </a:defRPr>
            </a:pPr>
            <a:r>
              <a:t>Can be extended with a cloud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B9742"/>
                </a:solidFill>
                <a:latin typeface="Aptos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493776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A3643"/>
                </a:solidFill>
                <a:latin typeface="Aptos"/>
              </a:defRPr>
            </a:pPr>
            <a:r>
              <a:t>Sensor readings need calibration</a:t>
            </a:r>
          </a:p>
          <a:p>
            <a:pPr>
              <a:spcAft>
                <a:spcPts val="1100"/>
              </a:spcAft>
              <a:defRPr sz="1600">
                <a:solidFill>
                  <a:srgbClr val="2A3643"/>
                </a:solidFill>
                <a:latin typeface="Aptos"/>
              </a:defRPr>
            </a:pPr>
            <a:r>
              <a:t>No cloud dashboard unless added</a:t>
            </a:r>
          </a:p>
          <a:p>
            <a:pPr>
              <a:spcAft>
                <a:spcPts val="1100"/>
              </a:spcAft>
              <a:defRPr sz="1600">
                <a:solidFill>
                  <a:srgbClr val="2A3643"/>
                </a:solidFill>
                <a:latin typeface="Aptos"/>
              </a:defRPr>
            </a:pPr>
            <a:r>
              <a:t>Soil and pump requirements vary</a:t>
            </a:r>
          </a:p>
          <a:p>
            <a:pPr>
              <a:spcAft>
                <a:spcPts val="1100"/>
              </a:spcAft>
              <a:defRPr sz="1600">
                <a:solidFill>
                  <a:srgbClr val="2A3643"/>
                </a:solidFill>
                <a:latin typeface="Aptos"/>
              </a:defRPr>
            </a:pPr>
            <a:r>
              <a:t>Hardware wiring and power must be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43A"/>
                </a:solidFill>
                <a:latin typeface="Aptos"/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914400" cy="64008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2717E"/>
                </a:solidFill>
                <a:latin typeface="Aptos"/>
              </a:rPr>
              <a:t>Possible improvements after the basic sensor-and-pump system is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2717E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82296" cy="1325880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11680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Cloud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87168"/>
            <a:ext cx="3044952" cy="5394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Remote monitoring of live readings.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82296" cy="1325880"/>
          </a:xfrm>
          <a:prstGeom prst="rect">
            <a:avLst/>
          </a:prstGeom>
          <a:solidFill>
            <a:srgbClr val="448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2011680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Historical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487168"/>
            <a:ext cx="3044952" cy="5394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Charts to understand moisture trends.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8288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828800"/>
            <a:ext cx="82296" cy="1325880"/>
          </a:xfrm>
          <a:prstGeom prst="rect">
            <a:avLst/>
          </a:prstGeom>
          <a:solidFill>
            <a:srgbClr val="EB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2011680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487168"/>
            <a:ext cx="3044952" cy="5394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Alerts for low moisture or sensor errors.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204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20440"/>
            <a:ext cx="82296" cy="1325880"/>
          </a:xfrm>
          <a:prstGeom prst="rect">
            <a:avLst/>
          </a:prstGeom>
          <a:solidFill>
            <a:srgbClr val="5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703320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Smarter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178808"/>
            <a:ext cx="3044952" cy="5394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Use plant type, soil type and watering schedules.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5204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520440"/>
            <a:ext cx="82296" cy="1325880"/>
          </a:xfrm>
          <a:prstGeom prst="rect">
            <a:avLst/>
          </a:prstGeom>
          <a:solidFill>
            <a:srgbClr val="9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3703320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43A"/>
                </a:solidFill>
                <a:latin typeface="Aptos"/>
              </a:rPr>
              <a:t>Power efficiency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4178808"/>
            <a:ext cx="3044952" cy="5394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Optimize sampling and supply for long-term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45720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71600"/>
            <a:ext cx="914400" cy="64008"/>
          </a:xfrm>
          <a:prstGeom prst="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E2EDF3"/>
                </a:solidFill>
                <a:latin typeface="Aptos"/>
              </a:rPr>
              <a:t>The IoT plant monitoring concept combines environmental sensing, ESP32 processing and relay-based irrigation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9669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ECBD6"/>
                </a:solidFill>
                <a:latin typeface="Aptos"/>
              </a:rPr>
              <a:t>Successful implementation depends on correct wiring, sensor calibration, safe pump power and real-world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892040"/>
            <a:ext cx="1554480" cy="329184"/>
          </a:xfrm>
          <a:prstGeom prst="roundRect">
            <a:avLst/>
          </a:prstGeom>
          <a:solidFill>
            <a:srgbClr val="1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4905755"/>
            <a:ext cx="148132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